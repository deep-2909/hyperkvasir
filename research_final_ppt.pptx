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lacial Indifference" charset="1" panose="00000000000000000000"/>
      <p:regular r:id="rId17"/>
    </p:embeddedFont>
    <p:embeddedFont>
      <p:font typeface="Glacial Indifference Bold" charset="1" panose="00000800000000000000"/>
      <p:regular r:id="rId18"/>
    </p:embeddedFont>
    <p:embeddedFont>
      <p:font typeface="Cormorant Garamond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9318" y="2105256"/>
            <a:ext cx="16313107" cy="759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</a:pPr>
            <a:r>
              <a:rPr lang="en-US" sz="677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Two-Level Independent Ensemble Strategy for Multiclass Gastrointestinal Classification: </a:t>
            </a:r>
          </a:p>
          <a:p>
            <a:pPr algn="l">
              <a:lnSpc>
                <a:spcPts val="6771"/>
              </a:lnSpc>
            </a:pPr>
            <a:r>
              <a:rPr lang="en-US" sz="677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Leveraging Differential Fine-Tuning and Stacking Meta-Learner</a:t>
            </a:r>
          </a:p>
          <a:p>
            <a:pPr algn="l">
              <a:lnSpc>
                <a:spcPts val="6771"/>
              </a:lnSpc>
            </a:pPr>
          </a:p>
          <a:p>
            <a:pPr algn="l">
              <a:lnSpc>
                <a:spcPts val="6771"/>
              </a:lnSpc>
            </a:pPr>
          </a:p>
          <a:p>
            <a:pPr algn="l" marL="0" indent="0" lvl="0">
              <a:lnSpc>
                <a:spcPts val="11770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H="true">
            <a:off x="547948" y="1981431"/>
            <a:ext cx="0" cy="5843443"/>
          </a:xfrm>
          <a:prstGeom prst="line">
            <a:avLst/>
          </a:prstGeom>
          <a:ln cap="flat" w="5715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19318" y="7008980"/>
            <a:ext cx="3252667" cy="156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 -</a:t>
            </a:r>
          </a:p>
          <a:p>
            <a:pPr algn="ctr">
              <a:lnSpc>
                <a:spcPts val="4208"/>
              </a:lnSpc>
            </a:pPr>
            <a:r>
              <a:rPr lang="en-US" sz="30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Raman Kumar Singh</a:t>
            </a:r>
          </a:p>
          <a:p>
            <a:pPr algn="r">
              <a:lnSpc>
                <a:spcPts val="4208"/>
              </a:lnSpc>
              <a:spcBef>
                <a:spcPct val="0"/>
              </a:spcBef>
            </a:pPr>
            <a:r>
              <a:rPr lang="en-US" sz="30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Deepanshu Sharma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2809" y="7307984"/>
            <a:ext cx="6238567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Under Guidance of -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Dr. Nitesh Pradhan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37029"/>
            <a:ext cx="16372295" cy="8902222"/>
            <a:chOff x="0" y="0"/>
            <a:chExt cx="4312045" cy="2344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2045" cy="2344618"/>
            </a:xfrm>
            <a:custGeom>
              <a:avLst/>
              <a:gdLst/>
              <a:ahLst/>
              <a:cxnLst/>
              <a:rect r="r" b="b" t="t" l="l"/>
              <a:pathLst>
                <a:path h="2344618" w="4312045">
                  <a:moveTo>
                    <a:pt x="0" y="0"/>
                  </a:moveTo>
                  <a:lnTo>
                    <a:pt x="4312045" y="0"/>
                  </a:lnTo>
                  <a:lnTo>
                    <a:pt x="4312045" y="2344618"/>
                  </a:lnTo>
                  <a:lnTo>
                    <a:pt x="0" y="2344618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12045" cy="23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06420" y="3019425"/>
            <a:ext cx="15601058" cy="665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Burden: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Digestive disorders cost $111.8 billion (2021) with 14.5 million emergency visits annually.</a:t>
            </a:r>
          </a:p>
          <a:p>
            <a:pPr algn="just">
              <a:lnSpc>
                <a:spcPts val="4079"/>
              </a:lnSpc>
            </a:pPr>
          </a:p>
          <a:p>
            <a:pPr algn="just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Challenge: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Wireless Capsule Endoscopy (WCE) generates tens of thousands of images per patient.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Manual review is tedious, time-consuming, and prone to human error.</a:t>
            </a:r>
          </a:p>
          <a:p>
            <a:pPr algn="just">
              <a:lnSpc>
                <a:spcPts val="4079"/>
              </a:lnSpc>
            </a:pPr>
          </a:p>
          <a:p>
            <a:pPr algn="just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Current Limitations: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Single DCNN architectures suffer from performance variance.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models often focus only on binary classification (e.g., Normal vs. Abnormal) rather than specific multiclass diseases.</a:t>
            </a:r>
          </a:p>
          <a:p>
            <a:pPr algn="just">
              <a:lnSpc>
                <a:spcPts val="4079"/>
              </a:lnSpc>
            </a:pP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Goal: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Develop a robust, automated Deep Learning framework for multiclass GI disease classification.</a:t>
            </a:r>
          </a:p>
          <a:p>
            <a:pPr algn="just" marL="0" indent="0" lvl="0">
              <a:lnSpc>
                <a:spcPts val="4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06420" y="1321753"/>
            <a:ext cx="15601058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b="true" sz="62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5796756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794" y="648305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Contributions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86379" y="2767188"/>
            <a:ext cx="842787" cy="8427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86379" y="4026782"/>
            <a:ext cx="842787" cy="8427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86379" y="5286375"/>
            <a:ext cx="842787" cy="8427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86379" y="6548262"/>
            <a:ext cx="842787" cy="84278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24416" y="2710038"/>
            <a:ext cx="13754364" cy="90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Dataset Optimization: </a:t>
            </a: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Merged similar classes in the HyperKvasir dataset to create robust high-level classifications (handling class imbalance).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4416" y="3898194"/>
            <a:ext cx="13995247" cy="90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Two-Phase Differential Fine-Tuning:</a:t>
            </a: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novel training protocol for Base Learners to minimize catastrophic forgetting and maximize feature adaptation.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29166" y="5086350"/>
            <a:ext cx="14321146" cy="185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Bi-Level Ensemble Strategy:</a:t>
            </a:r>
          </a:p>
          <a:p>
            <a:pPr algn="l" marL="561345" indent="-280673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 1: Independent Base Learners (ResNet, DenseNet, etc.).</a:t>
            </a:r>
          </a:p>
          <a:p>
            <a:pPr algn="l" marL="561345" indent="-280673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 2: Stacking Ensemble using a Meta-Learner (Logistic Regression) to fuse predictions.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724416" y="6672158"/>
            <a:ext cx="10594558" cy="90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Dual Stream Experiment:</a:t>
            </a:r>
            <a:r>
              <a:rPr lang="en-US" sz="26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Validated on two distinct class distributions (12 classes and 14 classes).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64551" y="0"/>
            <a:ext cx="6023449" cy="10287000"/>
            <a:chOff x="0" y="0"/>
            <a:chExt cx="8031265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36020" t="0" r="36020" b="0"/>
            <a:stretch>
              <a:fillRect/>
            </a:stretch>
          </p:blipFill>
          <p:spPr>
            <a:xfrm flipH="false" flipV="false">
              <a:off x="0" y="0"/>
              <a:ext cx="8031265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541112" y="1880597"/>
            <a:ext cx="11181454" cy="751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Source: 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HyperKvasir Dataset (110,079 images total).</a:t>
            </a:r>
          </a:p>
          <a:p>
            <a:pPr algn="l">
              <a:lnSpc>
                <a:spcPts val="4589"/>
              </a:lnSpc>
            </a:pPr>
          </a:p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Preprocessing Steps: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Resizing: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Standardized to 224 x 224 pixels.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Class Merging: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Combined severity grades (e.g., Ulcerative Colitis Grades 0-3 merged into one class; BBPS scores merged).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Filtering: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Removed low-sample classes (e.g., hemorrhoids, ileum) to reduce noise.</a:t>
            </a:r>
          </a:p>
          <a:p>
            <a:pPr algn="l">
              <a:lnSpc>
                <a:spcPts val="4589"/>
              </a:lnSpc>
            </a:pPr>
          </a:p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Experimental Streams: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Stream 1: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12 Classes (Highly filtered).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Stream 2:</a:t>
            </a:r>
            <a:r>
              <a:rPr lang="en-US" sz="26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14 Classes (Broader diagnostic scope).</a:t>
            </a:r>
          </a:p>
          <a:p>
            <a:pPr algn="l" marL="0" indent="0" lvl="0">
              <a:lnSpc>
                <a:spcPts val="45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1298" y="624967"/>
            <a:ext cx="11833253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5"/>
              </a:lnSpc>
            </a:pPr>
            <a:r>
              <a:rPr lang="en-US" sz="63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Description &amp;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8478" y="2572464"/>
            <a:ext cx="1466396" cy="1239104"/>
          </a:xfrm>
          <a:custGeom>
            <a:avLst/>
            <a:gdLst/>
            <a:ahLst/>
            <a:cxnLst/>
            <a:rect r="r" b="b" t="t" l="l"/>
            <a:pathLst>
              <a:path h="1239104" w="1466396">
                <a:moveTo>
                  <a:pt x="0" y="0"/>
                </a:moveTo>
                <a:lnTo>
                  <a:pt x="1466396" y="0"/>
                </a:lnTo>
                <a:lnTo>
                  <a:pt x="1466396" y="1239104"/>
                </a:lnTo>
                <a:lnTo>
                  <a:pt x="0" y="1239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5240" y="2539553"/>
            <a:ext cx="692323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Architectures Selected: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</a:p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ResNet50, VGG16,  MobileNetV2,  DenseNet121, EfficientNet-B6,  ResNet101,  DenseNet169.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94874" y="3801095"/>
            <a:ext cx="9240798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AutoNum type="arabicPeriod" startAt="1"/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Warmup Phase: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Freeze backbone, train only the classification head.</a:t>
            </a:r>
          </a:p>
          <a:p>
            <a:pPr algn="l" marL="518160" indent="-259080" lvl="1">
              <a:lnSpc>
                <a:spcPts val="4079"/>
              </a:lnSpc>
              <a:buAutoNum type="arabicPeriod" startAt="1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Fine-Tuning Phase: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Unfreeze backbone. Apply Stratified Learning Rates:</a:t>
            </a:r>
          </a:p>
          <a:p>
            <a:pPr algn="l" marL="518160" indent="-259080" lvl="1">
              <a:lnSpc>
                <a:spcPts val="4079"/>
              </a:lnSpc>
              <a:buAutoNum type="arabicPeriod" startAt="1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Backbone (Features):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Low rate (eta_{backbone} = 10^{-5}).</a:t>
            </a:r>
          </a:p>
          <a:p>
            <a:pPr algn="l" marL="518160" indent="-259080" lvl="1">
              <a:lnSpc>
                <a:spcPts val="4079"/>
              </a:lnSpc>
              <a:buAutoNum type="arabicPeriod" startAt="1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Head (Classifier):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Higher rate (eta_{head} = 10^{-4}).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62185" y="2649090"/>
            <a:ext cx="932581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9"/>
              </a:lnSpc>
            </a:pPr>
            <a:r>
              <a:rPr lang="en-US" b="true" sz="26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Solution: Algorithm 1 (Two-phase Diffrential Fine-Tuning)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620" y="4625551"/>
            <a:ext cx="692323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Challenge:</a:t>
            </a:r>
          </a:p>
          <a:p>
            <a:pPr algn="l" marL="0" indent="0" lvl="0">
              <a:lnSpc>
                <a:spcPts val="4079"/>
              </a:lnSpc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 transfer learning can destroy pre-trained features ("Catastrophic Forgetting").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240" y="477890"/>
            <a:ext cx="14855890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b="true" sz="5400" u="sng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Meathodology : Level 1 : BASE Learner Training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901" y="197710"/>
            <a:ext cx="16882399" cy="104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0"/>
              </a:lnSpc>
              <a:spcBef>
                <a:spcPct val="0"/>
              </a:spcBef>
            </a:pPr>
            <a:r>
              <a:rPr lang="en-US" b="true" sz="6100" u="sng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Meathodology : Level 2 : Ensemble Strategies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45432"/>
            <a:ext cx="16230600" cy="61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Strategy 1: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Soft Voting (Baseline): Arithmetic mean of predicted probabilities.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Strategy 2: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Weighted Ensemble: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Weights ( w_i) assigned based on accuracy (a_i).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Formula: w_i = a_i / sum A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Strategy 3: Stacking Ensemble (The Proposed Solution):</a:t>
            </a:r>
          </a:p>
          <a:p>
            <a:pPr algn="l">
              <a:lnSpc>
                <a:spcPts val="4079"/>
              </a:lnSpc>
            </a:pP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Meta-Feature Generation: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Concatenation of probability vectors from all Base Learners.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Meta-Learner: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Logistic Regression model trained to learn the optimal non-linear combination of base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                     predictions.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</a:t>
            </a:r>
            <a:r>
              <a:rPr lang="en-US" sz="2400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Goal: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Correct systematic errors and visual ambiguities defined by base models.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177637" cy="2125980"/>
            <a:chOff x="0" y="0"/>
            <a:chExt cx="4787526" cy="559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7526" cy="559929"/>
            </a:xfrm>
            <a:custGeom>
              <a:avLst/>
              <a:gdLst/>
              <a:ahLst/>
              <a:cxnLst/>
              <a:rect r="r" b="b" t="t" l="l"/>
              <a:pathLst>
                <a:path h="559929" w="4787526">
                  <a:moveTo>
                    <a:pt x="0" y="0"/>
                  </a:moveTo>
                  <a:lnTo>
                    <a:pt x="4787526" y="0"/>
                  </a:lnTo>
                  <a:lnTo>
                    <a:pt x="4787526" y="559929"/>
                  </a:lnTo>
                  <a:lnTo>
                    <a:pt x="0" y="559929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787526" cy="617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45817" y="2247452"/>
            <a:ext cx="9891949" cy="7827005"/>
          </a:xfrm>
          <a:custGeom>
            <a:avLst/>
            <a:gdLst/>
            <a:ahLst/>
            <a:cxnLst/>
            <a:rect r="r" b="b" t="t" l="l"/>
            <a:pathLst>
              <a:path h="7827005" w="9891949">
                <a:moveTo>
                  <a:pt x="0" y="0"/>
                </a:moveTo>
                <a:lnTo>
                  <a:pt x="9891950" y="0"/>
                </a:lnTo>
                <a:lnTo>
                  <a:pt x="9891950" y="7827005"/>
                </a:lnTo>
                <a:lnTo>
                  <a:pt x="0" y="782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4427" y="441960"/>
            <a:ext cx="15866253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u="sng">
                <a:solidFill>
                  <a:srgbClr val="FFFFFF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Proposed Archietecture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9696" y="168418"/>
            <a:ext cx="4418304" cy="10118582"/>
            <a:chOff x="0" y="0"/>
            <a:chExt cx="5891072" cy="1349144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5454" t="0" r="35454" b="0"/>
            <a:stretch>
              <a:fillRect/>
            </a:stretch>
          </p:blipFill>
          <p:spPr>
            <a:xfrm flipH="false" flipV="false">
              <a:off x="0" y="0"/>
              <a:ext cx="5891072" cy="13491443"/>
            </a:xfrm>
            <a:prstGeom prst="rect">
              <a:avLst/>
            </a:prstGeom>
          </p:spPr>
        </p:pic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32935" y="1879410"/>
            <a:ext cx="5775170" cy="860369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88500" y="348615"/>
            <a:ext cx="1144643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Experimental Setup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7899" y="2581911"/>
            <a:ext cx="7155726" cy="718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540" indent="-313770" lvl="1">
              <a:lnSpc>
                <a:spcPts val="4069"/>
              </a:lnSpc>
              <a:buFont typeface="Arial"/>
              <a:buChar char="•"/>
            </a:pPr>
            <a:r>
              <a:rPr lang="en-US" b="true" sz="2906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Split:</a:t>
            </a: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Stratified Split to maintain class distribution.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80% Training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10% Validation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10% Testing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</a:p>
          <a:p>
            <a:pPr algn="l" marL="627540" indent="-313770" lvl="1">
              <a:lnSpc>
                <a:spcPts val="4069"/>
              </a:lnSpc>
              <a:buFont typeface="Arial"/>
              <a:buChar char="•"/>
            </a:pPr>
            <a:r>
              <a:rPr lang="en-US" b="true" sz="2906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Input Configuration: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Batch Size: 32</a:t>
            </a:r>
          </a:p>
          <a:p>
            <a:pPr algn="l" marL="1255081" indent="-418360" lvl="2">
              <a:lnSpc>
                <a:spcPts val="4069"/>
              </a:lnSpc>
              <a:buFont typeface="Arial"/>
              <a:buChar char="⚬"/>
            </a:pP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Normalization: ImageNet mean and standard deviation.</a:t>
            </a:r>
          </a:p>
          <a:p>
            <a:pPr algn="l" marL="627540" indent="-313770" lvl="1">
              <a:lnSpc>
                <a:spcPts val="4069"/>
              </a:lnSpc>
              <a:buFont typeface="Arial"/>
              <a:buChar char="•"/>
            </a:pPr>
            <a:r>
              <a:rPr lang="en-US" b="true" sz="2906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Loss Function:</a:t>
            </a: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Categorical Cross-Entropy.</a:t>
            </a:r>
          </a:p>
          <a:p>
            <a:pPr algn="l" marL="627540" indent="-313770" lvl="1">
              <a:lnSpc>
                <a:spcPts val="40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06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Hardware:</a:t>
            </a:r>
            <a:r>
              <a:rPr lang="en-US" sz="2906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T4 GPU  (Google Colab).</a:t>
            </a:r>
          </a:p>
          <a:p>
            <a:pPr algn="l" marL="0" indent="0" lvl="0">
              <a:lnSpc>
                <a:spcPts val="40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5868318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22692" y="2918909"/>
          <a:ext cx="14442615" cy="6642248"/>
        </p:xfrm>
        <a:graphic>
          <a:graphicData uri="http://schemas.openxmlformats.org/drawingml/2006/table">
            <a:tbl>
              <a:tblPr/>
              <a:tblGrid>
                <a:gridCol w="7221308"/>
                <a:gridCol w="7221308"/>
              </a:tblGrid>
              <a:tr h="7472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Stream 1 (12 classes)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Stream 2 (14 classes)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</a:tr>
              <a:tr h="2133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Base Learner Performance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Best: ResNet50 (94% Accuracy).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Worst: EfficientNet-B6 (83% Accuracy).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Base Learner Performance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Best: DenseNet169 (95.08% Accuracy).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Worst: Mobilenet_v3_large (93.84% Accuracy).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  <a:tr h="1880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Ensemble Performance: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Stacking Ensemble Accuracy: 97%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Absolute Gain: +3% over the best individual model.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Ensemble Performance: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 </a:t>
                      </a:r>
                      <a:endParaRPr lang="en-US" sz="1100"/>
                    </a:p>
                    <a:p>
                      <a:pPr algn="l" marL="388617" indent="-194308" lvl="1">
                        <a:lnSpc>
                          <a:spcPts val="2519"/>
                        </a:lnSpc>
                        <a:buFont typeface="Arial"/>
                        <a:buChar char="•"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Stacking Ensemble Accuracy: 95.93%</a:t>
                      </a:r>
                    </a:p>
                    <a:p>
                      <a:pPr algn="l" marL="388617" indent="-194308" lvl="1">
                        <a:lnSpc>
                          <a:spcPts val="2519"/>
                        </a:lnSpc>
                        <a:buFont typeface="Arial"/>
                        <a:buChar char="•"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weighted F2-Score : 95.88%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  <a:tr h="1880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Significance:  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The Meta-Learner successfully leveraged architectural diversity to push past the ceiling of individual ResNet performance.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Observation: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Even with high-performing base models, Stacking provided an additional stability buffer (+0.85).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0951" y="895350"/>
            <a:ext cx="107260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87794" y="6477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1408963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u="sng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7164" y="2416420"/>
            <a:ext cx="14894617" cy="519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25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Established a new standard for GI diagnosis reliability (97% accuracy).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Proven that "Stacking &gt; Weighted Averaging &gt; Single Models" for medical imaging.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Successfully handled class imbalance through merging and stratified sampling.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419"/>
              </a:lnSpc>
            </a:pPr>
            <a:r>
              <a:rPr lang="en-US" sz="2599" b="true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Scope: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Hierarchical Classification: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First detect "Disease vs Normal," then "Specific Disease."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Video Analysis: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Applying this frame-based ensemble to temporal video data (3D-CNNs).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Real-time Deployment: </a:t>
            </a: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Optimizing the pipeline for live clinical use.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08978" y="4352367"/>
            <a:ext cx="8115300" cy="2057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0"/>
              </a:lnSpc>
            </a:pPr>
            <a:r>
              <a:rPr lang="en-US" sz="120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DAG5sSmZ-aI</dc:identifier>
  <dcterms:modified xsi:type="dcterms:W3CDTF">2011-08-01T06:04:30Z</dcterms:modified>
  <cp:revision>1</cp:revision>
  <dc:title>T</dc:title>
</cp:coreProperties>
</file>